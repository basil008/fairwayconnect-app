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5E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⛳ FairwayConnect</a:t>
            </a:r>
          </a:p>
          <a:p>
            <a:pPr algn="ctr">
              <a:spcBef>
                <a:spcPts val="1200"/>
              </a:spcBef>
              <a:defRPr sz="2000">
                <a:solidFill>
                  <a:srgbClr val="A5D6A7"/>
                </a:solidFill>
              </a:defRPr>
            </a:pPr>
            <a:r>
              <a:t>From Tee Time to Prize Time — Your Society, Sorted</a:t>
            </a:r>
            <a:br/>
            <a:br/>
            <a:r>
              <a:t>March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A5D6A7"/>
                </a:solidFill>
              </a:defRPr>
            </a:pPr>
            <a:r>
              <a:t>FairwayConnect — Your Society, Sorted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5E20"/>
                </a:solidFill>
              </a:defRPr>
            </a:pPr>
            <a:r>
              <a:t>The Problem</a:t>
            </a:r>
          </a:p>
          <a:p>
            <a:pPr algn="l">
              <a:spcBef>
                <a:spcPts val="1200"/>
              </a:spcBef>
              <a:defRPr sz="1800">
                <a:solidFill>
                  <a:srgbClr val="616161"/>
                </a:solidFill>
              </a:defRPr>
            </a:pPr>
            <a:r>
              <a:t>Society organisers are drowning in admin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2000">
                <a:solidFill>
                  <a:srgbClr val="212121"/>
                </a:solidFill>
              </a:defRPr>
            </a:pPr>
            <a:r>
              <a:t>📋 60+ minutes per event on manual admin</a:t>
            </a:r>
          </a:p>
          <a:p>
            <a:pPr>
              <a:spcBef>
                <a:spcPts val="1400"/>
              </a:spcBef>
              <a:defRPr sz="2000">
                <a:solidFill>
                  <a:srgbClr val="212121"/>
                </a:solidFill>
              </a:defRPr>
            </a:pPr>
            <a:r>
              <a:t>📱 3-5 tools: WhatsApp + spreadsheets + scoring app + cash + email</a:t>
            </a:r>
          </a:p>
          <a:p>
            <a:pPr>
              <a:spcBef>
                <a:spcPts val="1400"/>
              </a:spcBef>
              <a:defRPr sz="2000">
                <a:solidFill>
                  <a:srgbClr val="212121"/>
                </a:solidFill>
              </a:defRPr>
            </a:pPr>
            <a:r>
              <a:t>🧮 Manual countback calculations — error-prone, time-consuming</a:t>
            </a:r>
          </a:p>
          <a:p>
            <a:pPr>
              <a:spcBef>
                <a:spcPts val="1400"/>
              </a:spcBef>
              <a:defRPr sz="2000">
                <a:solidFill>
                  <a:srgbClr val="212121"/>
                </a:solidFill>
              </a:defRPr>
            </a:pPr>
            <a:r>
              <a:t>💸 Chasing members for money before every event</a:t>
            </a:r>
          </a:p>
          <a:p>
            <a:pPr>
              <a:spcBef>
                <a:spcPts val="1400"/>
              </a:spcBef>
              <a:defRPr sz="2000">
                <a:solidFill>
                  <a:srgbClr val="212121"/>
                </a:solidFill>
              </a:defRPr>
            </a:pPr>
            <a:r>
              <a:t>📧 Sending results manually via email and WhatsApp</a:t>
            </a:r>
          </a:p>
          <a:p>
            <a:pPr>
              <a:spcBef>
                <a:spcPts val="1400"/>
              </a:spcBef>
              <a:defRPr sz="2000">
                <a:solidFill>
                  <a:srgbClr val="212121"/>
                </a:solidFill>
              </a:defRPr>
            </a:pPr>
            <a:r>
              <a:t>😤 Organiser burnout — the thankless job nobody wants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E9E9E"/>
                </a:solidFill>
              </a:defRPr>
            </a:pPr>
            <a:r>
              <a:t>FairwayConnect — Your Society, Sorted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5E20"/>
                </a:solidFill>
              </a:defRPr>
            </a:pPr>
            <a:r>
              <a:t>The Solution</a:t>
            </a:r>
          </a:p>
          <a:p>
            <a:pPr algn="l">
              <a:spcBef>
                <a:spcPts val="1200"/>
              </a:spcBef>
              <a:defRPr sz="1800">
                <a:solidFill>
                  <a:srgbClr val="616161"/>
                </a:solidFill>
              </a:defRPr>
            </a:pPr>
            <a:r>
              <a:t>One app for everything — from event planning to prize-giving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2000">
                <a:solidFill>
                  <a:srgbClr val="212121"/>
                </a:solidFill>
              </a:defRPr>
            </a:pPr>
            <a:r>
              <a:t>✅ Event Planning → RSVP → Tee Times → Scorecards</a:t>
            </a:r>
          </a:p>
          <a:p>
            <a:pPr>
              <a:spcBef>
                <a:spcPts val="1400"/>
              </a:spcBef>
              <a:defRPr sz="2000">
                <a:solidFill>
                  <a:srgbClr val="212121"/>
                </a:solidFill>
              </a:defRPr>
            </a:pPr>
            <a:r>
              <a:t>✅ Live Scoring → Real-Time Leaderboard → Auto-Prizes</a:t>
            </a:r>
          </a:p>
          <a:p>
            <a:pPr>
              <a:spcBef>
                <a:spcPts val="1400"/>
              </a:spcBef>
              <a:defRPr sz="2000">
                <a:solidFill>
                  <a:srgbClr val="212121"/>
                </a:solidFill>
              </a:defRPr>
            </a:pPr>
            <a:r>
              <a:t>✅ Results via WhatsApp in seconds — not hours</a:t>
            </a:r>
          </a:p>
          <a:p>
            <a:pPr>
              <a:spcBef>
                <a:spcPts val="1400"/>
              </a:spcBef>
              <a:defRPr sz="2000">
                <a:solidFill>
                  <a:srgbClr val="212121"/>
                </a:solidFill>
              </a:defRPr>
            </a:pPr>
            <a:r>
              <a:t>✅ Season Calendar → Order of Merit → Awards</a:t>
            </a:r>
          </a:p>
          <a:p>
            <a:pPr>
              <a:spcBef>
                <a:spcPts val="1400"/>
              </a:spcBef>
              <a:defRPr sz="2000">
                <a:solidFill>
                  <a:srgbClr val="212121"/>
                </a:solidFill>
              </a:defRPr>
            </a:pPr>
            <a:r>
              <a:t>✅ Payment Collection → No more chasing cash</a:t>
            </a:r>
          </a:p>
          <a:p>
            <a:pPr>
              <a:spcBef>
                <a:spcPts val="1400"/>
              </a:spcBef>
              <a:defRPr sz="2000">
                <a:solidFill>
                  <a:srgbClr val="212121"/>
                </a:solidFill>
              </a:defRPr>
            </a:pPr>
          </a:p>
          <a:p>
            <a:pPr>
              <a:spcBef>
                <a:spcPts val="1400"/>
              </a:spcBef>
              <a:defRPr sz="2000">
                <a:solidFill>
                  <a:srgbClr val="212121"/>
                </a:solidFill>
              </a:defRPr>
            </a:pPr>
            <a:r>
              <a:t>🎯 Built for golf societies. Not repurposed from club software.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E9E9E"/>
                </a:solidFill>
              </a:defRPr>
            </a:pPr>
            <a:r>
              <a:t>FairwayConnect — Your Society, Sorted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5E20"/>
                </a:solidFill>
              </a:defRPr>
            </a:pPr>
            <a:r>
              <a:t>Two User Experiences</a:t>
            </a:r>
          </a:p>
          <a:p>
            <a:pPr algn="l">
              <a:spcBef>
                <a:spcPts val="1200"/>
              </a:spcBef>
              <a:defRPr sz="1800">
                <a:solidFill>
                  <a:srgbClr val="616161"/>
                </a:solidFill>
              </a:defRPr>
            </a:pPr>
            <a:r>
              <a:t>Separate workflows for committee and members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2000">
                <a:solidFill>
                  <a:srgbClr val="212121"/>
                </a:solidFill>
              </a:defRPr>
            </a:pPr>
            <a:r>
              <a:t>🔐 COMMITTEE ADMIN (PIN protected)</a:t>
            </a:r>
          </a:p>
          <a:p>
            <a:pPr>
              <a:spcBef>
                <a:spcPts val="1400"/>
              </a:spcBef>
              <a:defRPr sz="2000">
                <a:solidFill>
                  <a:srgbClr val="212121"/>
                </a:solidFill>
              </a:defRPr>
            </a:pPr>
            <a:r>
              <a:t>    Full control: events, members, handicaps, tee times, results</a:t>
            </a:r>
          </a:p>
          <a:p>
            <a:pPr>
              <a:spcBef>
                <a:spcPts val="1400"/>
              </a:spcBef>
              <a:defRPr sz="2000">
                <a:solidFill>
                  <a:srgbClr val="212121"/>
                </a:solidFill>
              </a:defRPr>
            </a:pPr>
            <a:r>
              <a:t>    Season calendar, Order of Merit management, settings</a:t>
            </a:r>
          </a:p>
          <a:p>
            <a:pPr>
              <a:spcBef>
                <a:spcPts val="1400"/>
              </a:spcBef>
              <a:defRPr sz="2000">
                <a:solidFill>
                  <a:srgbClr val="212121"/>
                </a:solidFill>
              </a:defRPr>
            </a:pPr>
          </a:p>
          <a:p>
            <a:pPr>
              <a:spcBef>
                <a:spcPts val="1400"/>
              </a:spcBef>
              <a:defRPr sz="2000">
                <a:solidFill>
                  <a:srgbClr val="212121"/>
                </a:solidFill>
              </a:defRPr>
            </a:pPr>
            <a:r>
              <a:t>👤 MEMBER VIEW (personal link / 4-digit code)</a:t>
            </a:r>
          </a:p>
          <a:p>
            <a:pPr>
              <a:spcBef>
                <a:spcPts val="1400"/>
              </a:spcBef>
              <a:defRPr sz="2000">
                <a:solidFill>
                  <a:srgbClr val="212121"/>
                </a:solidFill>
              </a:defRPr>
            </a:pPr>
            <a:r>
              <a:t>    RSVP, enter scores, view leaderboard, check results</a:t>
            </a:r>
          </a:p>
          <a:p>
            <a:pPr>
              <a:spcBef>
                <a:spcPts val="1400"/>
              </a:spcBef>
              <a:defRPr sz="2000">
                <a:solidFill>
                  <a:srgbClr val="212121"/>
                </a:solidFill>
              </a:defRPr>
            </a:pPr>
            <a:r>
              <a:t>    Read-only — members cannot edit anything except their own scores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E9E9E"/>
                </a:solidFill>
              </a:defRPr>
            </a:pPr>
            <a:r>
              <a:t>FairwayConnect — Your Society, Sorted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5E20"/>
                </a:solidFill>
              </a:defRPr>
            </a:pPr>
            <a:r>
              <a:t>Committee: Season Setup</a:t>
            </a:r>
          </a:p>
          <a:p>
            <a:pPr algn="l">
              <a:spcBef>
                <a:spcPts val="1200"/>
              </a:spcBef>
              <a:defRPr sz="1800">
                <a:solidFill>
                  <a:srgbClr val="616161"/>
                </a:solidFill>
              </a:defRPr>
            </a:pPr>
            <a:r>
              <a:t>Plan the entire year in minutes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2000">
                <a:solidFill>
                  <a:srgbClr val="212121"/>
                </a:solidFill>
              </a:defRPr>
            </a:pPr>
            <a:r>
              <a:t>📅 Create 10-20 events for the season with courses, dates, formats, fees</a:t>
            </a:r>
          </a:p>
          <a:p>
            <a:pPr>
              <a:spcBef>
                <a:spcPts val="1400"/>
              </a:spcBef>
              <a:defRPr sz="2000">
                <a:solidFill>
                  <a:srgbClr val="212121"/>
                </a:solidFill>
              </a:defRPr>
            </a:pPr>
            <a:r>
              <a:t>🏆 Set Order of Merit rules: F1 points, Best 8 of 12</a:t>
            </a:r>
          </a:p>
          <a:p>
            <a:pPr>
              <a:spcBef>
                <a:spcPts val="1400"/>
              </a:spcBef>
              <a:defRPr sz="2000">
                <a:solidFill>
                  <a:srgbClr val="212121"/>
                </a:solidFill>
              </a:defRPr>
            </a:pPr>
            <a:r>
              <a:t>👥 Manage member database with handicaps, emails, phones</a:t>
            </a:r>
          </a:p>
          <a:p>
            <a:pPr>
              <a:spcBef>
                <a:spcPts val="1400"/>
              </a:spcBef>
              <a:defRPr sz="2000">
                <a:solidFill>
                  <a:srgbClr val="212121"/>
                </a:solidFill>
              </a:defRPr>
            </a:pPr>
            <a:r>
              <a:t>🔗 Generate personal links and 4-digit PINs for every member</a:t>
            </a:r>
          </a:p>
          <a:p>
            <a:pPr>
              <a:spcBef>
                <a:spcPts val="1400"/>
              </a:spcBef>
              <a:defRPr sz="2000">
                <a:solidFill>
                  <a:srgbClr val="212121"/>
                </a:solidFill>
              </a:defRPr>
            </a:pPr>
            <a:r>
              <a:t>💰 Set membership fees and prize fund rules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E9E9E"/>
                </a:solidFill>
              </a:defRPr>
            </a:pPr>
            <a:r>
              <a:t>FairwayConnect — Your Society, Sorted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5E20"/>
                </a:solidFill>
              </a:defRPr>
            </a:pPr>
            <a:r>
              <a:t>Committee: Event Management</a:t>
            </a:r>
          </a:p>
          <a:p>
            <a:pPr algn="l">
              <a:spcBef>
                <a:spcPts val="1200"/>
              </a:spcBef>
              <a:defRPr sz="1800">
                <a:solidFill>
                  <a:srgbClr val="616161"/>
                </a:solidFill>
              </a:defRPr>
            </a:pPr>
            <a:r>
              <a:t>6-tab workspace for complete event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2000">
                <a:solidFill>
                  <a:srgbClr val="212121"/>
                </a:solidFill>
              </a:defRPr>
            </a:pPr>
            <a:r>
              <a:t>📝 Details — course, date, time, format, prize structure</a:t>
            </a:r>
          </a:p>
          <a:p>
            <a:pPr>
              <a:spcBef>
                <a:spcPts val="1400"/>
              </a:spcBef>
              <a:defRPr sz="2000">
                <a:solidFill>
                  <a:srgbClr val="212121"/>
                </a:solidFill>
              </a:defRPr>
            </a:pPr>
            <a:r>
              <a:t>👥 Players &amp; RSVPs — manage attendance, add visitors, adjust handicaps</a:t>
            </a:r>
          </a:p>
          <a:p>
            <a:pPr>
              <a:spcBef>
                <a:spcPts val="1400"/>
              </a:spcBef>
              <a:defRPr sz="2000">
                <a:solidFill>
                  <a:srgbClr val="212121"/>
                </a:solidFill>
              </a:defRPr>
            </a:pPr>
            <a:r>
              <a:t>⛳ Tee Times — auto-generate groups of 4, print tee sheet</a:t>
            </a:r>
          </a:p>
          <a:p>
            <a:pPr>
              <a:spcBef>
                <a:spcPts val="1400"/>
              </a:spcBef>
              <a:defRPr sz="2000">
                <a:solidFill>
                  <a:srgbClr val="212121"/>
                </a:solidFill>
              </a:defRPr>
            </a:pPr>
            <a:r>
              <a:t>📋 Scorecards — print individual cards, monitor submissions, correct errors</a:t>
            </a:r>
          </a:p>
          <a:p>
            <a:pPr>
              <a:spcBef>
                <a:spcPts val="1400"/>
              </a:spcBef>
              <a:defRPr sz="2000">
                <a:solidFill>
                  <a:srgbClr val="212121"/>
                </a:solidFill>
              </a:defRPr>
            </a:pPr>
            <a:r>
              <a:t>🎯 Side Competitions — enter NTP distances, Longest Drive</a:t>
            </a:r>
          </a:p>
          <a:p>
            <a:pPr>
              <a:spcBef>
                <a:spcPts val="1400"/>
              </a:spcBef>
              <a:defRPr sz="2000">
                <a:solidFill>
                  <a:srgbClr val="212121"/>
                </a:solidFill>
              </a:defRPr>
            </a:pPr>
            <a:r>
              <a:t>🏆 Results — finalise with countback engine, publish, share via WhatsApp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E9E9E"/>
                </a:solidFill>
              </a:defRPr>
            </a:pPr>
            <a:r>
              <a:t>FairwayConnect — Your Society, Sorted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5E20"/>
                </a:solidFill>
              </a:defRPr>
            </a:pPr>
            <a:r>
              <a:t>Committee: Member Management</a:t>
            </a:r>
          </a:p>
          <a:p>
            <a:pPr algn="l">
              <a:spcBef>
                <a:spcPts val="1200"/>
              </a:spcBef>
              <a:defRPr sz="1800">
                <a:solidFill>
                  <a:srgbClr val="616161"/>
                </a:solidFill>
              </a:defRPr>
            </a:pPr>
            <a:r>
              <a:t>Full database with personal access links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2000">
                <a:solidFill>
                  <a:srgbClr val="212121"/>
                </a:solidFill>
              </a:defRPr>
            </a:pPr>
            <a:r>
              <a:t>👤 Add/edit/deactivate members and visitors</a:t>
            </a:r>
          </a:p>
          <a:p>
            <a:pPr>
              <a:spcBef>
                <a:spcPts val="1400"/>
              </a:spcBef>
              <a:defRPr sz="2000">
                <a:solidFill>
                  <a:srgbClr val="212121"/>
                </a:solidFill>
              </a:defRPr>
            </a:pPr>
            <a:r>
              <a:t>🔗 Personal links — one tap to join, no password needed</a:t>
            </a:r>
          </a:p>
          <a:p>
            <a:pPr>
              <a:spcBef>
                <a:spcPts val="1400"/>
              </a:spcBef>
              <a:defRPr sz="2000">
                <a:solidFill>
                  <a:srgbClr val="212121"/>
                </a:solidFill>
              </a:defRPr>
            </a:pPr>
            <a:r>
              <a:t>🔢 4-digit PIN codes — fallback when link isn't available</a:t>
            </a:r>
          </a:p>
          <a:p>
            <a:pPr>
              <a:spcBef>
                <a:spcPts val="1400"/>
              </a:spcBef>
              <a:defRPr sz="2000">
                <a:solidFill>
                  <a:srgbClr val="212121"/>
                </a:solidFill>
              </a:defRPr>
            </a:pPr>
            <a:r>
              <a:t>📊 Handicap tracking per event with adjustment capability</a:t>
            </a:r>
          </a:p>
          <a:p>
            <a:pPr>
              <a:spcBef>
                <a:spcPts val="1400"/>
              </a:spcBef>
              <a:defRPr sz="2000">
                <a:solidFill>
                  <a:srgbClr val="212121"/>
                </a:solidFill>
              </a:defRPr>
            </a:pPr>
            <a:r>
              <a:t>🏷️ Visitor management with separate prize category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E9E9E"/>
                </a:solidFill>
              </a:defRPr>
            </a:pPr>
            <a:r>
              <a:t>FairwayConnect — Your Society, Sorted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5E20"/>
                </a:solidFill>
              </a:defRPr>
            </a:pPr>
            <a:r>
              <a:t>Committee: Printable Scorecards</a:t>
            </a:r>
          </a:p>
          <a:p>
            <a:pPr algn="l">
              <a:spcBef>
                <a:spcPts val="1200"/>
              </a:spcBef>
              <a:defRPr sz="1800">
                <a:solidFill>
                  <a:srgbClr val="616161"/>
                </a:solidFill>
              </a:defRPr>
            </a:pPr>
            <a:r>
              <a:t>Individual cards ready for the first tee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2000">
                <a:solidFill>
                  <a:srgbClr val="212121"/>
                </a:solidFill>
              </a:defRPr>
            </a:pPr>
            <a:r>
              <a:t>🖨️ One scorecard per player per page</a:t>
            </a:r>
          </a:p>
          <a:p>
            <a:pPr>
              <a:spcBef>
                <a:spcPts val="1400"/>
              </a:spcBef>
              <a:defRPr sz="2000">
                <a:solidFill>
                  <a:srgbClr val="212121"/>
                </a:solidFill>
              </a:defRPr>
            </a:pPr>
            <a:r>
              <a:t>📋 Player name, handicap, course holes (par, SI, yardage)</a:t>
            </a:r>
          </a:p>
          <a:p>
            <a:pPr>
              <a:spcBef>
                <a:spcPts val="1400"/>
              </a:spcBef>
              <a:defRPr sz="2000">
                <a:solidFill>
                  <a:srgbClr val="212121"/>
                </a:solidFill>
              </a:defRPr>
            </a:pPr>
            <a:r>
              <a:t>✍️ Signature lines for player and marker</a:t>
            </a:r>
          </a:p>
          <a:p>
            <a:pPr>
              <a:spcBef>
                <a:spcPts val="1400"/>
              </a:spcBef>
              <a:defRPr sz="2000">
                <a:solidFill>
                  <a:srgbClr val="212121"/>
                </a:solidFill>
              </a:defRPr>
            </a:pPr>
            <a:r>
              <a:t>🎯 NTP and Longest Drive fields included</a:t>
            </a:r>
          </a:p>
          <a:p>
            <a:pPr>
              <a:spcBef>
                <a:spcPts val="1400"/>
              </a:spcBef>
              <a:defRPr sz="2000">
                <a:solidFill>
                  <a:srgbClr val="212121"/>
                </a:solidFill>
              </a:defRPr>
            </a:pPr>
            <a:r>
              <a:t>📱 Players can also enter scores digitally via the 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E9E9E"/>
                </a:solidFill>
              </a:defRPr>
            </a:pPr>
            <a:r>
              <a:t>FairwayConnect — Your Society, Sorted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5E20"/>
                </a:solidFill>
              </a:defRPr>
            </a:pPr>
            <a:r>
              <a:t>Members: Personal Link Access</a:t>
            </a:r>
          </a:p>
          <a:p>
            <a:pPr algn="l">
              <a:spcBef>
                <a:spcPts val="1200"/>
              </a:spcBef>
              <a:defRPr sz="1800">
                <a:solidFill>
                  <a:srgbClr val="616161"/>
                </a:solidFill>
              </a:defRPr>
            </a:pPr>
            <a:r>
              <a:t>One tap — you're 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2000">
                <a:solidFill>
                  <a:srgbClr val="212121"/>
                </a:solidFill>
              </a:defRPr>
            </a:pPr>
            <a:r>
              <a:t>🔗 Organiser sends your personal link via WhatsApp</a:t>
            </a:r>
          </a:p>
          <a:p>
            <a:pPr>
              <a:spcBef>
                <a:spcPts val="1400"/>
              </a:spcBef>
              <a:defRPr sz="2000">
                <a:solidFill>
                  <a:srgbClr val="212121"/>
                </a:solidFill>
              </a:defRPr>
            </a:pPr>
            <a:r>
              <a:t>📱 Tap once → 'Welcome, Mick!' → app knows who you are</a:t>
            </a:r>
          </a:p>
          <a:p>
            <a:pPr>
              <a:spcBef>
                <a:spcPts val="1400"/>
              </a:spcBef>
              <a:defRPr sz="2000">
                <a:solidFill>
                  <a:srgbClr val="212121"/>
                </a:solidFill>
              </a:defRPr>
            </a:pPr>
            <a:r>
              <a:t>💾 Saved to phone — never asked again</a:t>
            </a:r>
          </a:p>
          <a:p>
            <a:pPr>
              <a:spcBef>
                <a:spcPts val="1400"/>
              </a:spcBef>
              <a:defRPr sz="2000">
                <a:solidFill>
                  <a:srgbClr val="212121"/>
                </a:solidFill>
              </a:defRPr>
            </a:pPr>
            <a:r>
              <a:t>🔐 Can only enter YOUR scores — no access to anyone else's</a:t>
            </a:r>
          </a:p>
          <a:p>
            <a:pPr>
              <a:spcBef>
                <a:spcPts val="1400"/>
              </a:spcBef>
              <a:defRPr sz="2000">
                <a:solidFill>
                  <a:srgbClr val="212121"/>
                </a:solidFill>
              </a:defRPr>
            </a:pPr>
            <a:r>
              <a:t>📲 Add to Home Screen for app-like experience</a:t>
            </a:r>
          </a:p>
          <a:p>
            <a:pPr>
              <a:spcBef>
                <a:spcPts val="1400"/>
              </a:spcBef>
              <a:defRPr sz="2000">
                <a:solidFill>
                  <a:srgbClr val="212121"/>
                </a:solidFill>
              </a:defRPr>
            </a:pPr>
          </a:p>
          <a:p>
            <a:pPr>
              <a:spcBef>
                <a:spcPts val="1400"/>
              </a:spcBef>
              <a:defRPr sz="2000">
                <a:solidFill>
                  <a:srgbClr val="212121"/>
                </a:solidFill>
              </a:defRPr>
            </a:pPr>
            <a:r>
              <a:t>🔢 Alternative: enter your 4-digit member code on any device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E9E9E"/>
                </a:solidFill>
              </a:defRPr>
            </a:pPr>
            <a:r>
              <a:t>FairwayConnect — Your Society, Sorted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5E20"/>
                </a:solidFill>
              </a:defRPr>
            </a:pPr>
            <a:r>
              <a:t>Members: Live Scoring</a:t>
            </a:r>
          </a:p>
          <a:p>
            <a:pPr algn="l">
              <a:spcBef>
                <a:spcPts val="1200"/>
              </a:spcBef>
              <a:defRPr sz="1800">
                <a:solidFill>
                  <a:srgbClr val="616161"/>
                </a:solidFill>
              </a:defRPr>
            </a:pPr>
            <a:r>
              <a:t>Big buttons, auto-calculation, works offline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2000">
                <a:solidFill>
                  <a:srgbClr val="212121"/>
                </a:solidFill>
              </a:defRPr>
            </a:pPr>
            <a:r>
              <a:t>⛳ Hole-by-hole entry with massive colour-coded buttons</a:t>
            </a:r>
          </a:p>
          <a:p>
            <a:pPr>
              <a:spcBef>
                <a:spcPts val="1400"/>
              </a:spcBef>
              <a:defRPr sz="2000">
                <a:solidFill>
                  <a:srgbClr val="212121"/>
                </a:solidFill>
              </a:defRPr>
            </a:pPr>
            <a:r>
              <a:t>🟦 Blue = Birdie  🟩 Green = Par  🟧 Orange = Bogey  🟥 Red = Double+</a:t>
            </a:r>
          </a:p>
          <a:p>
            <a:pPr>
              <a:spcBef>
                <a:spcPts val="1400"/>
              </a:spcBef>
              <a:defRPr sz="2000">
                <a:solidFill>
                  <a:srgbClr val="212121"/>
                </a:solidFill>
              </a:defRPr>
            </a:pPr>
            <a:r>
              <a:t>🧮 Stableford points auto-calculated (handicap + stroke index)</a:t>
            </a:r>
          </a:p>
          <a:p>
            <a:pPr>
              <a:spcBef>
                <a:spcPts val="1400"/>
              </a:spcBef>
              <a:defRPr sz="2000">
                <a:solidFill>
                  <a:srgbClr val="212121"/>
                </a:solidFill>
              </a:defRPr>
            </a:pPr>
            <a:r>
              <a:t>📊 Running total always visible</a:t>
            </a:r>
          </a:p>
          <a:p>
            <a:pPr>
              <a:spcBef>
                <a:spcPts val="1400"/>
              </a:spcBef>
              <a:defRPr sz="2000">
                <a:solidFill>
                  <a:srgbClr val="212121"/>
                </a:solidFill>
              </a:defRPr>
            </a:pPr>
            <a:r>
              <a:t>📴 Works offline — scores sync when signal returns</a:t>
            </a:r>
          </a:p>
          <a:p>
            <a:pPr>
              <a:spcBef>
                <a:spcPts val="1400"/>
              </a:spcBef>
              <a:defRPr sz="2000">
                <a:solidFill>
                  <a:srgbClr val="212121"/>
                </a:solidFill>
              </a:defRPr>
            </a:pPr>
            <a:r>
              <a:t>📸 Scorecard photo scan option (AI reads handwritten scores)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E9E9E"/>
                </a:solidFill>
              </a:defRPr>
            </a:pPr>
            <a:r>
              <a:t>FairwayConnect — Your Society, Sorted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5E20"/>
                </a:solidFill>
              </a:defRPr>
            </a:pPr>
            <a:r>
              <a:t>Members: Live Leaderboard</a:t>
            </a:r>
          </a:p>
          <a:p>
            <a:pPr algn="l">
              <a:spcBef>
                <a:spcPts val="1200"/>
              </a:spcBef>
              <a:defRPr sz="1800">
                <a:solidFill>
                  <a:srgbClr val="616161"/>
                </a:solidFill>
              </a:defRPr>
            </a:pPr>
            <a:r>
              <a:t>Real-time — watch the drama unfold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2000">
                <a:solidFill>
                  <a:srgbClr val="212121"/>
                </a:solidFill>
              </a:defRPr>
            </a:pPr>
            <a:r>
              <a:t>📊 Auto-refreshes every 30 seconds</a:t>
            </a:r>
          </a:p>
          <a:p>
            <a:pPr>
              <a:spcBef>
                <a:spcPts val="1400"/>
              </a:spcBef>
              <a:defRPr sz="2000">
                <a:solidFill>
                  <a:srgbClr val="212121"/>
                </a:solidFill>
              </a:defRPr>
            </a:pPr>
            <a:r>
              <a:t>🏅 Division tabs: All | Div A (0-14) | Div B (15-28) | Visitors</a:t>
            </a:r>
          </a:p>
          <a:p>
            <a:pPr>
              <a:spcBef>
                <a:spcPts val="1400"/>
              </a:spcBef>
              <a:defRPr sz="2000">
                <a:solidFill>
                  <a:srgbClr val="212121"/>
                </a:solidFill>
              </a:defRPr>
            </a:pPr>
            <a:r>
              <a:t>📍 'Thru 14' / 'F' status shows who's still on course</a:t>
            </a:r>
          </a:p>
          <a:p>
            <a:pPr>
              <a:spcBef>
                <a:spcPts val="1400"/>
              </a:spcBef>
              <a:defRPr sz="2000">
                <a:solidFill>
                  <a:srgbClr val="212121"/>
                </a:solidFill>
              </a:defRPr>
            </a:pPr>
            <a:r>
              <a:t>🎯 Side competitions: NTP, Longest Drive displayed</a:t>
            </a:r>
          </a:p>
          <a:p>
            <a:pPr>
              <a:spcBef>
                <a:spcPts val="1400"/>
              </a:spcBef>
              <a:defRPr sz="2000">
                <a:solidFill>
                  <a:srgbClr val="212121"/>
                </a:solidFill>
              </a:defRPr>
            </a:pPr>
            <a:r>
              <a:t>💚 YOUR position highlighted in green</a:t>
            </a:r>
          </a:p>
          <a:p>
            <a:pPr>
              <a:spcBef>
                <a:spcPts val="1400"/>
              </a:spcBef>
              <a:defRPr sz="2000">
                <a:solidFill>
                  <a:srgbClr val="212121"/>
                </a:solidFill>
              </a:defRPr>
            </a:pPr>
            <a:r>
              <a:t>📺 Perfect for clubhouse TV display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E9E9E"/>
                </a:solidFill>
              </a:defRPr>
            </a:pPr>
            <a:r>
              <a:t>FairwayConnect — Your Society, Sorted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5E20"/>
                </a:solidFill>
              </a:defRPr>
            </a:pPr>
            <a:r>
              <a:t>Members: Season Calendar</a:t>
            </a:r>
          </a:p>
          <a:p>
            <a:pPr algn="l">
              <a:spcBef>
                <a:spcPts val="1200"/>
              </a:spcBef>
              <a:defRPr sz="1800">
                <a:solidFill>
                  <a:srgbClr val="616161"/>
                </a:solidFill>
              </a:defRPr>
            </a:pPr>
            <a:r>
              <a:t>The full year at a glance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2000">
                <a:solidFill>
                  <a:srgbClr val="212121"/>
                </a:solidFill>
              </a:defRPr>
            </a:pPr>
            <a:r>
              <a:t>📅 All events listed: date, course, format, entry fee</a:t>
            </a:r>
          </a:p>
          <a:p>
            <a:pPr>
              <a:spcBef>
                <a:spcPts val="1400"/>
              </a:spcBef>
              <a:defRPr sz="2000">
                <a:solidFill>
                  <a:srgbClr val="212121"/>
                </a:solidFill>
              </a:defRPr>
            </a:pPr>
            <a:r>
              <a:t>✅ Past events — tap to see full results and leaderboard</a:t>
            </a:r>
          </a:p>
          <a:p>
            <a:pPr>
              <a:spcBef>
                <a:spcPts val="1400"/>
              </a:spcBef>
              <a:defRPr sz="2000">
                <a:solidFill>
                  <a:srgbClr val="212121"/>
                </a:solidFill>
              </a:defRPr>
            </a:pPr>
            <a:r>
              <a:t>📋 Upcoming events — one-tap RSVP</a:t>
            </a:r>
          </a:p>
          <a:p>
            <a:pPr>
              <a:spcBef>
                <a:spcPts val="1400"/>
              </a:spcBef>
              <a:defRPr sz="2000">
                <a:solidFill>
                  <a:srgbClr val="212121"/>
                </a:solidFill>
              </a:defRPr>
            </a:pPr>
            <a:r>
              <a:t>🔜 Future events — courses and dates confirmed</a:t>
            </a:r>
          </a:p>
          <a:p>
            <a:pPr>
              <a:spcBef>
                <a:spcPts val="1400"/>
              </a:spcBef>
              <a:defRPr sz="2000">
                <a:solidFill>
                  <a:srgbClr val="212121"/>
                </a:solidFill>
              </a:defRPr>
            </a:pPr>
            <a:r>
              <a:t>📊 Season progress indicator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E9E9E"/>
                </a:solidFill>
              </a:defRPr>
            </a:pPr>
            <a:r>
              <a:t>FairwayConnect — Your Society, Sorted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5E20"/>
                </a:solidFill>
              </a:defRPr>
            </a:pPr>
            <a:r>
              <a:t>🏆 Auto-Prize Engine</a:t>
            </a:r>
          </a:p>
          <a:p>
            <a:pPr algn="l">
              <a:spcBef>
                <a:spcPts val="1200"/>
              </a:spcBef>
              <a:defRPr sz="1800">
                <a:solidFill>
                  <a:srgbClr val="616161"/>
                </a:solidFill>
              </a:defRPr>
            </a:pPr>
            <a:r>
              <a:t>Industry first — no competitor has this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2000">
                <a:solidFill>
                  <a:srgbClr val="212121"/>
                </a:solidFill>
              </a:defRPr>
            </a:pPr>
            <a:r>
              <a:t>⚡ &lt; 5 seconds from last putt to full results</a:t>
            </a:r>
          </a:p>
          <a:p>
            <a:pPr>
              <a:spcBef>
                <a:spcPts val="1400"/>
              </a:spcBef>
              <a:defRPr sz="2000">
                <a:solidFill>
                  <a:srgbClr val="212121"/>
                </a:solidFill>
              </a:defRPr>
            </a:pPr>
            <a:r>
              <a:t>🧮 R&amp;A-compliant Stableford countback (Back 9 → Back 6 → Back 3 → Last hole)</a:t>
            </a:r>
          </a:p>
          <a:p>
            <a:pPr>
              <a:spcBef>
                <a:spcPts val="1400"/>
              </a:spcBef>
              <a:defRPr sz="2000">
                <a:solidFill>
                  <a:srgbClr val="212121"/>
                </a:solidFill>
              </a:defRPr>
            </a:pPr>
            <a:r>
              <a:t>🏅 Overall 1st/2nd/3rd + Division A + Division B</a:t>
            </a:r>
          </a:p>
          <a:p>
            <a:pPr>
              <a:spcBef>
                <a:spcPts val="1400"/>
              </a:spcBef>
              <a:defRPr sz="2000">
                <a:solidFill>
                  <a:srgbClr val="212121"/>
                </a:solidFill>
              </a:defRPr>
            </a:pPr>
            <a:r>
              <a:t>🎯 NTP per hole + Longest Drive — auto-allocated</a:t>
            </a:r>
          </a:p>
          <a:p>
            <a:pPr>
              <a:spcBef>
                <a:spcPts val="1400"/>
              </a:spcBef>
              <a:defRPr sz="2000">
                <a:solidFill>
                  <a:srgbClr val="212121"/>
                </a:solidFill>
              </a:defRPr>
            </a:pPr>
            <a:r>
              <a:t>🏷️ Best Visitor prize (separate category)</a:t>
            </a:r>
          </a:p>
          <a:p>
            <a:pPr>
              <a:spcBef>
                <a:spcPts val="1400"/>
              </a:spcBef>
              <a:defRPr sz="2000">
                <a:solidFill>
                  <a:srgbClr val="212121"/>
                </a:solidFill>
              </a:defRPr>
            </a:pPr>
            <a:r>
              <a:t>🛡️ Prize cap rule: prevent same player winning every week</a:t>
            </a:r>
          </a:p>
          <a:p>
            <a:pPr>
              <a:spcBef>
                <a:spcPts val="1400"/>
              </a:spcBef>
              <a:defRPr sz="2000">
                <a:solidFill>
                  <a:srgbClr val="212121"/>
                </a:solidFill>
              </a:defRPr>
            </a:pPr>
            <a:r>
              <a:t>💰 Pot-split calculation from collected fees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E9E9E"/>
                </a:solidFill>
              </a:defRPr>
            </a:pPr>
            <a:r>
              <a:t>FairwayConnect — Your Society, Sorted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5E20"/>
                </a:solidFill>
              </a:defRPr>
            </a:pPr>
            <a:r>
              <a:t>🏆 Order of Merit</a:t>
            </a:r>
          </a:p>
          <a:p>
            <a:pPr algn="l">
              <a:spcBef>
                <a:spcPts val="1200"/>
              </a:spcBef>
              <a:defRPr sz="1800">
                <a:solidFill>
                  <a:srgbClr val="616161"/>
                </a:solidFill>
              </a:defRPr>
            </a:pPr>
            <a:r>
              <a:t>The season-long competition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2000">
                <a:solidFill>
                  <a:srgbClr val="212121"/>
                </a:solidFill>
              </a:defRPr>
            </a:pPr>
            <a:r>
              <a:t>📊 F1-style points: 1st=25, 2nd=18, 3rd=15... 10th=1</a:t>
            </a:r>
          </a:p>
          <a:p>
            <a:pPr>
              <a:spcBef>
                <a:spcPts val="1400"/>
              </a:spcBef>
              <a:defRPr sz="2000">
                <a:solidFill>
                  <a:srgbClr val="212121"/>
                </a:solidFill>
              </a:defRPr>
            </a:pPr>
            <a:r>
              <a:t>🎯 Best 8 of 12 rule — fairness for those who can't attend every event</a:t>
            </a:r>
          </a:p>
          <a:p>
            <a:pPr>
              <a:spcBef>
                <a:spcPts val="1400"/>
              </a:spcBef>
              <a:defRPr sz="2000">
                <a:solidFill>
                  <a:srgbClr val="212121"/>
                </a:solidFill>
              </a:defRPr>
            </a:pPr>
            <a:r>
              <a:t>📈 Division A + Division B standings</a:t>
            </a:r>
          </a:p>
          <a:p>
            <a:pPr>
              <a:spcBef>
                <a:spcPts val="1400"/>
              </a:spcBef>
              <a:defRPr sz="2000">
                <a:solidFill>
                  <a:srgbClr val="212121"/>
                </a:solidFill>
              </a:defRPr>
            </a:pPr>
            <a:r>
              <a:t>🏅 Category awards: Golfer of the Year, Most Improved, NTP King</a:t>
            </a:r>
          </a:p>
          <a:p>
            <a:pPr>
              <a:spcBef>
                <a:spcPts val="1400"/>
              </a:spcBef>
              <a:defRPr sz="2000">
                <a:solidFill>
                  <a:srgbClr val="212121"/>
                </a:solidFill>
              </a:defRPr>
            </a:pPr>
            <a:r>
              <a:t>👤 Player profiles: stats, scoring trends, event history</a:t>
            </a:r>
          </a:p>
          <a:p>
            <a:pPr>
              <a:spcBef>
                <a:spcPts val="1400"/>
              </a:spcBef>
              <a:defRPr sz="2000">
                <a:solidFill>
                  <a:srgbClr val="212121"/>
                </a:solidFill>
              </a:defRPr>
            </a:pPr>
            <a:r>
              <a:t>🎉 Year-end awards ceremony data pack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E9E9E"/>
                </a:solidFill>
              </a:defRPr>
            </a:pPr>
            <a:r>
              <a:t>FairwayConnect — Your Society, Sorted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5E20"/>
                </a:solidFill>
              </a:defRPr>
            </a:pPr>
            <a:r>
              <a:t>📱 WhatsApp Integration</a:t>
            </a:r>
          </a:p>
          <a:p>
            <a:pPr algn="l">
              <a:spcBef>
                <a:spcPts val="1200"/>
              </a:spcBef>
              <a:defRPr sz="1800">
                <a:solidFill>
                  <a:srgbClr val="616161"/>
                </a:solidFill>
              </a:defRPr>
            </a:pPr>
            <a:r>
              <a:t>Coming in Phase 2 — meeting members where they 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2000">
                <a:solidFill>
                  <a:srgbClr val="212121"/>
                </a:solidFill>
              </a:defRPr>
            </a:pPr>
            <a:r>
              <a:t>📨 Event invitations with one-tap RSVP buttons</a:t>
            </a:r>
          </a:p>
          <a:p>
            <a:pPr>
              <a:spcBef>
                <a:spcPts val="1400"/>
              </a:spcBef>
              <a:defRPr sz="2000">
                <a:solidFill>
                  <a:srgbClr val="212121"/>
                </a:solidFill>
              </a:defRPr>
            </a:pPr>
            <a:r>
              <a:t>⏰ Automatic reminders at 7 days, 3 days, 24 hours</a:t>
            </a:r>
          </a:p>
          <a:p>
            <a:pPr>
              <a:spcBef>
                <a:spcPts val="1400"/>
              </a:spcBef>
              <a:defRPr sz="2000">
                <a:solidFill>
                  <a:srgbClr val="212121"/>
                </a:solidFill>
              </a:defRPr>
            </a:pPr>
            <a:r>
              <a:t>🏆 Results summary with leaderboard image — delivered in seconds</a:t>
            </a:r>
          </a:p>
          <a:p>
            <a:pPr>
              <a:spcBef>
                <a:spcPts val="1400"/>
              </a:spcBef>
              <a:defRPr sz="2000">
                <a:solidFill>
                  <a:srgbClr val="212121"/>
                </a:solidFill>
              </a:defRPr>
            </a:pPr>
            <a:r>
              <a:t>💳 Payment request links with Stripe integration</a:t>
            </a:r>
          </a:p>
          <a:p>
            <a:pPr>
              <a:spcBef>
                <a:spcPts val="1400"/>
              </a:spcBef>
              <a:defRPr sz="2000">
                <a:solidFill>
                  <a:srgbClr val="212121"/>
                </a:solidFill>
              </a:defRPr>
            </a:pPr>
            <a:r>
              <a:t>📊 98% open rate — no email comes close</a:t>
            </a:r>
          </a:p>
          <a:p>
            <a:pPr>
              <a:spcBef>
                <a:spcPts val="1400"/>
              </a:spcBef>
              <a:defRPr sz="2000">
                <a:solidFill>
                  <a:srgbClr val="212121"/>
                </a:solidFill>
              </a:defRPr>
            </a:pPr>
          </a:p>
          <a:p>
            <a:pPr>
              <a:spcBef>
                <a:spcPts val="1400"/>
              </a:spcBef>
              <a:defRPr sz="2000">
                <a:solidFill>
                  <a:srgbClr val="212121"/>
                </a:solidFill>
              </a:defRPr>
            </a:pPr>
            <a:r>
              <a:t>💡 WhatsApp Business API (official Meta integration)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E9E9E"/>
                </a:solidFill>
              </a:defRPr>
            </a:pPr>
            <a:r>
              <a:t>FairwayConnect — Your Society, Sorted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5E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Next Steps</a:t>
            </a:r>
          </a:p>
          <a:p>
            <a:pPr algn="l">
              <a:spcBef>
                <a:spcPts val="1200"/>
              </a:spcBef>
              <a:defRPr sz="1800">
                <a:solidFill>
                  <a:srgbClr val="A5D6A7"/>
                </a:solidFill>
              </a:defRPr>
            </a:pPr>
            <a:r>
              <a:t>The path to 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2000">
                <a:solidFill>
                  <a:srgbClr val="FFFFFF"/>
                </a:solidFill>
              </a:defRPr>
            </a:pPr>
            <a:r>
              <a:t>🧪 PILOT: 10 societies in Ireland — April 2026</a:t>
            </a:r>
          </a:p>
          <a:p>
            <a:pPr>
              <a:spcBef>
                <a:spcPts val="1400"/>
              </a:spcBef>
              <a:defRPr sz="2000">
                <a:solidFill>
                  <a:srgbClr val="FFFFFF"/>
                </a:solidFill>
              </a:defRPr>
            </a:pPr>
            <a:r>
              <a:t>🎨 UX design sprint — 4 weeks</a:t>
            </a:r>
          </a:p>
          <a:p>
            <a:pPr>
              <a:spcBef>
                <a:spcPts val="1400"/>
              </a:spcBef>
              <a:defRPr sz="2000">
                <a:solidFill>
                  <a:srgbClr val="FFFFFF"/>
                </a:solidFill>
              </a:defRPr>
            </a:pPr>
            <a:r>
              <a:t>🔨 MVP development — 4 months</a:t>
            </a:r>
          </a:p>
          <a:p>
            <a:pPr>
              <a:spcBef>
                <a:spcPts val="1400"/>
              </a:spcBef>
              <a:defRPr sz="2000">
                <a:solidFill>
                  <a:srgbClr val="FFFFFF"/>
                </a:solidFill>
              </a:defRPr>
            </a:pPr>
            <a:r>
              <a:t>🚀 Ireland launch — September 2026</a:t>
            </a:r>
          </a:p>
          <a:p>
            <a:pPr>
              <a:spcBef>
                <a:spcPts val="1400"/>
              </a:spcBef>
              <a:defRPr sz="2000">
                <a:solidFill>
                  <a:srgbClr val="FFFFFF"/>
                </a:solidFill>
              </a:defRPr>
            </a:pPr>
            <a:r>
              <a:t>🇬🇧 UK expansion — Q1 2027</a:t>
            </a:r>
          </a:p>
          <a:p>
            <a:pPr>
              <a:spcBef>
                <a:spcPts val="1400"/>
              </a:spcBef>
              <a:defRPr sz="2000">
                <a:solidFill>
                  <a:srgbClr val="FFFFFF"/>
                </a:solidFill>
              </a:defRPr>
            </a:pPr>
            <a:r>
              <a:t>🌍 Global — 2028</a:t>
            </a:r>
          </a:p>
          <a:p>
            <a:pPr>
              <a:spcBef>
                <a:spcPts val="1400"/>
              </a:spcBef>
              <a:defRPr sz="2000">
                <a:solidFill>
                  <a:srgbClr val="FFFFFF"/>
                </a:solidFill>
              </a:defRPr>
            </a:pPr>
          </a:p>
          <a:p>
            <a:pPr>
              <a:spcBef>
                <a:spcPts val="1400"/>
              </a:spcBef>
              <a:defRPr sz="2000">
                <a:solidFill>
                  <a:srgbClr val="FFFFFF"/>
                </a:solidFill>
              </a:defRPr>
            </a:pPr>
            <a:r>
              <a:t>💰 Revenue: €70K Y1 → €1.2M Y3 → €3.2M Y5</a:t>
            </a:r>
          </a:p>
          <a:p>
            <a:pPr>
              <a:spcBef>
                <a:spcPts val="1400"/>
              </a:spcBef>
              <a:defRPr sz="2000">
                <a:solidFill>
                  <a:srgbClr val="FFFFFF"/>
                </a:solidFill>
              </a:defRPr>
            </a:pPr>
            <a:r>
              <a:t>📧 Contact: basil@lasertec.ie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A5D6A7"/>
                </a:solidFill>
              </a:defRPr>
            </a:pPr>
            <a:r>
              <a:t>FairwayConnect — Your Society, Sorted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